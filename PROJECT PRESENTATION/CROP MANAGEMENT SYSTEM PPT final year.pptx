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2" r:id="rId4"/>
  </p:sldMasterIdLst>
  <p:sldIdLst>
    <p:sldId id="257" r:id="rId5"/>
    <p:sldId id="259" r:id="rId6"/>
    <p:sldId id="260" r:id="rId7"/>
    <p:sldId id="261" r:id="rId8"/>
    <p:sldId id="263" r:id="rId9"/>
    <p:sldId id="264" r:id="rId10"/>
    <p:sldId id="265" r:id="rId11"/>
    <p:sldId id="266" r:id="rId12"/>
    <p:sldId id="267" r:id="rId13"/>
    <p:sldId id="268" r:id="rId14"/>
    <p:sldId id="275" r:id="rId15"/>
    <p:sldId id="278" r:id="rId16"/>
    <p:sldId id="277" r:id="rId17"/>
    <p:sldId id="276" r:id="rId18"/>
    <p:sldId id="270" r:id="rId19"/>
    <p:sldId id="269" r:id="rId20"/>
    <p:sldId id="271"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9184DA70-C731-4C70-880D-CCD4705E623C}" type="datetime1">
              <a:rPr lang="en-US" smtClean="0"/>
              <a:t>4/26/2025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3A98EE3D-8CD1-4C3F-BD1C-C98C9596463C}" type="slidenum">
              <a:rPr lang="en-US" smtClean="0"/>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05903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1D723-8F53-4F53-90B0-1982A396982E}" type="datetime1">
              <a:rPr lang="en-US" smtClean="0"/>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10971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8025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t>4/26/2025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33207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F0F1C-5577-4ACB-BB62-DF8F3C494C7E}" type="datetime1">
              <a:rPr lang="en-US" smtClean="0"/>
              <a:t>4/26/2025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123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5B394-D9F9-4F0C-B15D-605F45CB9E9F}" type="datetime1">
              <a:rPr lang="en-US" smtClean="0"/>
              <a:t>4/26/2025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7908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t>4/26/2025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00528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BEA474-078D-4E9B-9B14-09A87B19DC46}" type="datetime1">
              <a:rPr lang="en-US" smtClean="0"/>
              <a:t>4/26/2025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6326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t>4/26/2025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2356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4/26/2025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2232669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707751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799545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334816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201129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912162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2A279-0833-481D-8C56-F67FD0AC6C50}" type="datetime1">
              <a:rPr lang="en-US" smtClean="0"/>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59753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87DA83-5663-4C9C-B9AA-0B40A3DAFF81}" type="datetime1">
              <a:rPr lang="en-US" smtClean="0"/>
              <a:t>4/26/2025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3153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2D6E202-B606-4609-B914-27C9371A1F6D}" type="datetime1">
              <a:rPr lang="en-US" smtClean="0"/>
              <a:t>4/26/2025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87884593"/>
      </p:ext>
    </p:extLst>
  </p:cSld>
  <p:clrMap bg1="lt1" tx1="dk1" bg2="lt2" tx2="dk2" accent1="accent1" accent2="accent2" accent3="accent3" accent4="accent4" accent5="accent5" accent6="accent6" hlink="hlink" folHlink="folHlink"/>
  <p:sldLayoutIdLst>
    <p:sldLayoutId id="2147483983" r:id="rId1"/>
    <p:sldLayoutId id="2147483984" r:id="rId2"/>
    <p:sldLayoutId id="2147483985" r:id="rId3"/>
    <p:sldLayoutId id="2147483986" r:id="rId4"/>
    <p:sldLayoutId id="2147483987" r:id="rId5"/>
    <p:sldLayoutId id="2147483988" r:id="rId6"/>
    <p:sldLayoutId id="2147483989" r:id="rId7"/>
    <p:sldLayoutId id="2147483990" r:id="rId8"/>
    <p:sldLayoutId id="2147483991" r:id="rId9"/>
    <p:sldLayoutId id="2147483992" r:id="rId10"/>
    <p:sldLayoutId id="2147483993" r:id="rId11"/>
    <p:sldLayoutId id="2147483994" r:id="rId12"/>
    <p:sldLayoutId id="2147483995" r:id="rId13"/>
    <p:sldLayoutId id="2147483996" r:id="rId14"/>
    <p:sldLayoutId id="2147483997" r:id="rId15"/>
    <p:sldLayoutId id="2147483998" r:id="rId16"/>
    <p:sldLayoutId id="2147483999" r:id="rId17"/>
  </p:sldLayoutIdLst>
  <p:hf sldNum="0"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50000"/>
            <a:alpha val="39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4896215" y="569141"/>
            <a:ext cx="6253317" cy="2919891"/>
          </a:xfrm>
        </p:spPr>
        <p:txBody>
          <a:bodyPr>
            <a:normAutofit/>
          </a:bodyPr>
          <a:lstStyle/>
          <a:p>
            <a:r>
              <a:rPr lang="en-US" sz="3600" dirty="0">
                <a:latin typeface="Times New Roman" panose="02020603050405020304" pitchFamily="18" charset="0"/>
                <a:cs typeface="Times New Roman" panose="02020603050405020304" pitchFamily="18" charset="0"/>
              </a:rPr>
              <a:t>CROP RECOMMENDATION SYSTEM</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157977" y="3743586"/>
            <a:ext cx="6269347" cy="2185253"/>
          </a:xfrm>
        </p:spPr>
        <p:txBody>
          <a:bodyPr>
            <a:normAutofit/>
          </a:bodyPr>
          <a:lstStyle/>
          <a:p>
            <a:r>
              <a:rPr lang="en-US" dirty="0">
                <a:solidFill>
                  <a:schemeClr val="tx1">
                    <a:lumMod val="85000"/>
                    <a:lumOff val="15000"/>
                  </a:schemeClr>
                </a:solidFill>
              </a:rPr>
              <a:t>TEAM MEMBERS:</a:t>
            </a:r>
          </a:p>
          <a:p>
            <a:r>
              <a:rPr lang="en-US" sz="1200" dirty="0">
                <a:solidFill>
                  <a:schemeClr val="tx1">
                    <a:lumMod val="85000"/>
                    <a:lumOff val="15000"/>
                  </a:schemeClr>
                </a:solidFill>
                <a:latin typeface="Times New Roman" panose="02020603050405020304" pitchFamily="18" charset="0"/>
                <a:cs typeface="Times New Roman" panose="02020603050405020304" pitchFamily="18" charset="0"/>
              </a:rPr>
              <a:t>SIDDHARTH RAJ</a:t>
            </a:r>
          </a:p>
          <a:p>
            <a:r>
              <a:rPr lang="en-US" sz="1200" dirty="0">
                <a:solidFill>
                  <a:schemeClr val="tx1">
                    <a:lumMod val="85000"/>
                    <a:lumOff val="15000"/>
                  </a:schemeClr>
                </a:solidFill>
                <a:latin typeface="Times New Roman" panose="02020603050405020304" pitchFamily="18" charset="0"/>
                <a:cs typeface="Times New Roman" panose="02020603050405020304" pitchFamily="18" charset="0"/>
              </a:rPr>
              <a:t>AVNEESH PANWAR</a:t>
            </a:r>
          </a:p>
          <a:p>
            <a:r>
              <a:rPr lang="en-US" sz="1200" dirty="0">
                <a:solidFill>
                  <a:schemeClr val="tx1">
                    <a:lumMod val="85000"/>
                    <a:lumOff val="15000"/>
                  </a:schemeClr>
                </a:solidFill>
                <a:latin typeface="Times New Roman" panose="02020603050405020304" pitchFamily="18" charset="0"/>
                <a:cs typeface="Times New Roman" panose="02020603050405020304" pitchFamily="18" charset="0"/>
              </a:rPr>
              <a:t>ASHIRWAD SINGH UJJAIN</a:t>
            </a:r>
          </a:p>
          <a:p>
            <a:r>
              <a:rPr lang="en-US" sz="1200" dirty="0">
                <a:solidFill>
                  <a:schemeClr val="tx1">
                    <a:lumMod val="85000"/>
                    <a:lumOff val="15000"/>
                  </a:schemeClr>
                </a:solidFill>
                <a:latin typeface="Times New Roman" panose="02020603050405020304" pitchFamily="18" charset="0"/>
                <a:cs typeface="Times New Roman" panose="02020603050405020304" pitchFamily="18" charset="0"/>
              </a:rPr>
              <a:t>HARSHIT PANDEY</a:t>
            </a:r>
          </a:p>
        </p:txBody>
      </p:sp>
      <p:pic>
        <p:nvPicPr>
          <p:cNvPr id="4" name="Picture 3">
            <a:extLst>
              <a:ext uri="{FF2B5EF4-FFF2-40B4-BE49-F238E27FC236}">
                <a16:creationId xmlns:a16="http://schemas.microsoft.com/office/drawing/2014/main" id="{F6AB063B-8DE9-56A4-904D-3865CE5C1B4C}"/>
              </a:ext>
            </a:extLst>
          </p:cNvPr>
          <p:cNvPicPr>
            <a:picLocks noChangeAspect="1"/>
          </p:cNvPicPr>
          <p:nvPr/>
        </p:nvPicPr>
        <p:blipFill>
          <a:blip r:embed="rId2"/>
          <a:stretch>
            <a:fillRect/>
          </a:stretch>
        </p:blipFill>
        <p:spPr>
          <a:xfrm>
            <a:off x="-53025" y="3429000"/>
            <a:ext cx="5073259" cy="3440487"/>
          </a:xfrm>
          <a:prstGeom prst="rect">
            <a:avLst/>
          </a:prstGeom>
        </p:spPr>
      </p:pic>
      <p:pic>
        <p:nvPicPr>
          <p:cNvPr id="6" name="Picture 5">
            <a:extLst>
              <a:ext uri="{FF2B5EF4-FFF2-40B4-BE49-F238E27FC236}">
                <a16:creationId xmlns:a16="http://schemas.microsoft.com/office/drawing/2014/main" id="{E2DC0D68-7F1A-444E-8D36-457F68CF426A}"/>
              </a:ext>
            </a:extLst>
          </p:cNvPr>
          <p:cNvPicPr>
            <a:picLocks noChangeAspect="1"/>
          </p:cNvPicPr>
          <p:nvPr/>
        </p:nvPicPr>
        <p:blipFill>
          <a:blip r:embed="rId3"/>
          <a:stretch>
            <a:fillRect/>
          </a:stretch>
        </p:blipFill>
        <p:spPr>
          <a:xfrm>
            <a:off x="0" y="0"/>
            <a:ext cx="5020234" cy="3440487"/>
          </a:xfrm>
          <a:prstGeom prst="rect">
            <a:avLst/>
          </a:prstGeom>
        </p:spPr>
      </p:pic>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53854">
              <a:srgbClr val="FFC000"/>
            </a:gs>
            <a:gs pos="12580">
              <a:srgbClr val="FCDDED"/>
            </a:gs>
            <a:gs pos="0">
              <a:schemeClr val="accent1">
                <a:lumMod val="5000"/>
                <a:lumOff val="95000"/>
              </a:schemeClr>
            </a:gs>
            <a:gs pos="74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5EF6B-3A0D-E311-B8BF-FFC54741A2E1}"/>
              </a:ext>
            </a:extLst>
          </p:cNvPr>
          <p:cNvSpPr>
            <a:spLocks noGrp="1"/>
          </p:cNvSpPr>
          <p:nvPr>
            <p:ph type="title"/>
          </p:nvPr>
        </p:nvSpPr>
        <p:spPr>
          <a:xfrm>
            <a:off x="1295402" y="1213626"/>
            <a:ext cx="9601196" cy="1303867"/>
          </a:xfrm>
        </p:spPr>
        <p:txBody>
          <a:bodyPr>
            <a:normAutofit/>
          </a:bodyPr>
          <a:lstStyle/>
          <a:p>
            <a:r>
              <a:rPr lang="en-IN" sz="2800" dirty="0">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406C1175-2DCD-7B55-7032-ECAF0440FACC}"/>
              </a:ext>
            </a:extLst>
          </p:cNvPr>
          <p:cNvSpPr txBox="1"/>
          <p:nvPr/>
        </p:nvSpPr>
        <p:spPr>
          <a:xfrm>
            <a:off x="1295402" y="1958165"/>
            <a:ext cx="9979692" cy="4093428"/>
          </a:xfrm>
          <a:prstGeom prst="rect">
            <a:avLst/>
          </a:prstGeom>
          <a:noFill/>
        </p:spPr>
        <p:txBody>
          <a:bodyPr wrap="square" rtlCol="0">
            <a:spAutoFit/>
          </a:bodyPr>
          <a:lstStyle/>
          <a:p>
            <a:pPr algn="just"/>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Crop Recommendation System is a Python Django based machine  learning project that utilizes the Random Forest Classifier algorithm to provide accurate crop recommendations to farmers based on soil and environmental Conditions. It consists of user and admin modules, allowing users to receive recommendations ,view and prediction History, and manage their profiles, while administrator can access analytics and manage users. The system uses parameters Like nitrogen, phosphorus, potassium levels, temperature , humidity, pH, rainfall to determine suitable crops. Its goals is to help farmers make informed decisions and maximize agricultural productivity.</a:t>
            </a:r>
          </a:p>
          <a:p>
            <a:pPr algn="just"/>
            <a:r>
              <a:rPr lang="en-IN" sz="2000" dirty="0">
                <a:latin typeface="Times New Roman" panose="02020603050405020304" pitchFamily="18" charset="0"/>
                <a:cs typeface="Times New Roman" panose="02020603050405020304" pitchFamily="18" charset="0"/>
              </a:rPr>
              <a:t>In this system farmers can detect which crop is suitable for farming according to cities which helps them in crop production .Users can also view the information about the crop through view info. Button beside crops recommended. </a:t>
            </a:r>
          </a:p>
        </p:txBody>
      </p:sp>
    </p:spTree>
    <p:extLst>
      <p:ext uri="{BB962C8B-B14F-4D97-AF65-F5344CB8AC3E}">
        <p14:creationId xmlns:p14="http://schemas.microsoft.com/office/powerpoint/2010/main" val="3237477467"/>
      </p:ext>
    </p:extLst>
  </p:cSld>
  <p:clrMapOvr>
    <a:masterClrMapping/>
  </p:clrMapOvr>
  <mc:AlternateContent xmlns:mc="http://schemas.openxmlformats.org/markup-compatibility/2006" xmlns:p14="http://schemas.microsoft.com/office/powerpoint/2010/main">
    <mc:Choice Requires="p14">
      <p:transition spd="slow" p14:dur="1500" advTm="1000">
        <p:split orient="vert"/>
      </p:transition>
    </mc:Choice>
    <mc:Fallback xmlns="">
      <p:transition spd="slow" advTm="1000">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53854">
              <a:srgbClr val="7030A0"/>
            </a:gs>
            <a:gs pos="12580">
              <a:srgbClr val="FCDDED"/>
            </a:gs>
            <a:gs pos="0">
              <a:schemeClr val="accent1">
                <a:lumMod val="5000"/>
                <a:lumOff val="95000"/>
              </a:schemeClr>
            </a:gs>
            <a:gs pos="74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F4BA2-F055-0D60-0105-2936355AE0A9}"/>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5CFF8DAE-7F28-C006-46C9-FE7FA48F7724}"/>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The Crop Recommendation System using random forest Classifier aims to achieve accurate crop selection , enhance crop yields, promote sustainable farming practices, serve as a decision support tool, provide a user friendly interface and ensure scalability and adaptability. By leveraging historical data and advanced algorithm , the system provides precise recommendations based on soil and environmental parameters helping farmers make informed decisions for improved productivity and sustainability</a:t>
            </a:r>
            <a:r>
              <a:rPr lang="en-IN" dirty="0"/>
              <a:t>.</a:t>
            </a:r>
          </a:p>
        </p:txBody>
      </p:sp>
    </p:spTree>
    <p:extLst>
      <p:ext uri="{BB962C8B-B14F-4D97-AF65-F5344CB8AC3E}">
        <p14:creationId xmlns:p14="http://schemas.microsoft.com/office/powerpoint/2010/main" val="2136733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92D050">
            <a:alpha val="35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9C6C3-75B5-1496-123C-A2E6CBD96B6C}"/>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NEED OF THE SYSTEM</a:t>
            </a:r>
          </a:p>
        </p:txBody>
      </p:sp>
      <p:sp>
        <p:nvSpPr>
          <p:cNvPr id="3" name="TextBox 2">
            <a:extLst>
              <a:ext uri="{FF2B5EF4-FFF2-40B4-BE49-F238E27FC236}">
                <a16:creationId xmlns:a16="http://schemas.microsoft.com/office/drawing/2014/main" id="{72D6FBD0-1C7D-24AA-D125-3A1DEF172EA9}"/>
              </a:ext>
            </a:extLst>
          </p:cNvPr>
          <p:cNvSpPr txBox="1"/>
          <p:nvPr/>
        </p:nvSpPr>
        <p:spPr>
          <a:xfrm>
            <a:off x="1451580" y="2241177"/>
            <a:ext cx="9903186" cy="3170099"/>
          </a:xfrm>
          <a:prstGeom prst="rect">
            <a:avLst/>
          </a:prstGeom>
          <a:noFill/>
        </p:spPr>
        <p:txBody>
          <a:bodyPr wrap="square" rtlCol="0">
            <a:spAutoFit/>
          </a:bodyPr>
          <a:lstStyle/>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need for the Crop Recommendation System using Random forest Classifier arises from the challenges faced by farmers in making informed decisions `about crop selection .Traditional method often lack accuracy and fail to consider various factors affecting crop productivity. By leveraging Machine Learning techniques ,the system provides precise and data driven Recommendations based on factors such as soil composition, temperature , humidity, pH level and rainfall. This helps farmers optimize resource allocation ,improve crop yield, minimize environmental impact and make informed decisions for sustainable agricultural practises. The system serves as a valuable tool to enhance productivity , profitability, and sustainability in the agricultural  sector.</a:t>
            </a:r>
          </a:p>
        </p:txBody>
      </p:sp>
    </p:spTree>
    <p:extLst>
      <p:ext uri="{BB962C8B-B14F-4D97-AF65-F5344CB8AC3E}">
        <p14:creationId xmlns:p14="http://schemas.microsoft.com/office/powerpoint/2010/main" val="2256750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53854">
              <a:srgbClr val="7030A0"/>
            </a:gs>
            <a:gs pos="12580">
              <a:srgbClr val="FCDDED"/>
            </a:gs>
            <a:gs pos="0">
              <a:schemeClr val="accent1">
                <a:lumMod val="5000"/>
                <a:lumOff val="95000"/>
              </a:schemeClr>
            </a:gs>
            <a:gs pos="74000">
              <a:schemeClr val="accent1">
                <a:lumMod val="45000"/>
                <a:lumOff val="55000"/>
              </a:schemeClr>
            </a:gs>
            <a:gs pos="100000">
              <a:schemeClr val="accent3">
                <a:lumMod val="60000"/>
                <a:lumOff val="4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B579A-334A-05B2-6616-6A352715EEBE}"/>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PROPOSED SYSTEM </a:t>
            </a:r>
          </a:p>
        </p:txBody>
      </p:sp>
      <p:sp>
        <p:nvSpPr>
          <p:cNvPr id="3" name="TextBox 2">
            <a:extLst>
              <a:ext uri="{FF2B5EF4-FFF2-40B4-BE49-F238E27FC236}">
                <a16:creationId xmlns:a16="http://schemas.microsoft.com/office/drawing/2014/main" id="{C9727165-396C-04F5-716C-8E676A573519}"/>
              </a:ext>
            </a:extLst>
          </p:cNvPr>
          <p:cNvSpPr txBox="1"/>
          <p:nvPr/>
        </p:nvSpPr>
        <p:spPr>
          <a:xfrm>
            <a:off x="1451578" y="2411506"/>
            <a:ext cx="9603275" cy="2862322"/>
          </a:xfrm>
          <a:prstGeom prst="rect">
            <a:avLst/>
          </a:prstGeom>
          <a:noFill/>
        </p:spPr>
        <p:txBody>
          <a:bodyPr wrap="square" rtlCol="0">
            <a:spAutoFit/>
          </a:bodyPr>
          <a:lstStyle/>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proposed Crop Recommendation System using Random Forest Classifier aims to overcome limitations by utilizing machine learning algorithms to provide accurate and personalized crop recommendations . It analyse data such as soil nutrients , temperature , humidity , pH , rainfall to train a Random forest classifier model . Users can access the system through a user friendly web interface ,input their parameters and received customized crop recommendations . The system also includes a prediction history feature for monitoring performance . The objective is to enhance crop productivity , resource efficiency and promote sustainable farming practices</a:t>
            </a:r>
            <a:r>
              <a:rPr lang="en-IN" sz="2000" dirty="0"/>
              <a:t>. </a:t>
            </a:r>
          </a:p>
        </p:txBody>
      </p:sp>
    </p:spTree>
    <p:extLst>
      <p:ext uri="{BB962C8B-B14F-4D97-AF65-F5344CB8AC3E}">
        <p14:creationId xmlns:p14="http://schemas.microsoft.com/office/powerpoint/2010/main" val="1311188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00">
            <a:alpha val="37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969D8-AE61-7FBE-7FDA-6B00DDF693AD}"/>
              </a:ext>
            </a:extLst>
          </p:cNvPr>
          <p:cNvSpPr>
            <a:spLocks noGrp="1"/>
          </p:cNvSpPr>
          <p:nvPr>
            <p:ph type="title"/>
          </p:nvPr>
        </p:nvSpPr>
        <p:spPr>
          <a:xfrm>
            <a:off x="1295402" y="399826"/>
            <a:ext cx="9601196" cy="1303867"/>
          </a:xfrm>
        </p:spPr>
        <p:txBody>
          <a:bodyPr>
            <a:normAutofit/>
          </a:bodyPr>
          <a:lstStyle/>
          <a:p>
            <a:r>
              <a:rPr lang="en-IN" sz="2800" u="sng" dirty="0">
                <a:latin typeface="Times New Roman" panose="02020603050405020304" pitchFamily="18" charset="0"/>
                <a:cs typeface="Times New Roman" panose="02020603050405020304" pitchFamily="18" charset="0"/>
              </a:rPr>
              <a:t>  USER MODULES</a:t>
            </a:r>
          </a:p>
        </p:txBody>
      </p:sp>
      <p:sp>
        <p:nvSpPr>
          <p:cNvPr id="3" name="Content Placeholder 2">
            <a:extLst>
              <a:ext uri="{FF2B5EF4-FFF2-40B4-BE49-F238E27FC236}">
                <a16:creationId xmlns:a16="http://schemas.microsoft.com/office/drawing/2014/main" id="{A7A1D198-6D02-BFC0-E5EB-48A687CCA70C}"/>
              </a:ext>
            </a:extLst>
          </p:cNvPr>
          <p:cNvSpPr>
            <a:spLocks noGrp="1"/>
          </p:cNvSpPr>
          <p:nvPr>
            <p:ph idx="1"/>
          </p:nvPr>
        </p:nvSpPr>
        <p:spPr>
          <a:xfrm>
            <a:off x="1451579" y="1703693"/>
            <a:ext cx="9603275" cy="3450613"/>
          </a:xfrm>
        </p:spPr>
        <p:txBody>
          <a:bodyPr>
            <a:noAutofit/>
          </a:bodyPr>
          <a:lstStyle/>
          <a:p>
            <a:pPr algn="just"/>
            <a:r>
              <a:rPr lang="en-IN" sz="1800" b="1" dirty="0">
                <a:latin typeface="Times New Roman" panose="02020603050405020304" pitchFamily="18" charset="0"/>
                <a:cs typeface="Times New Roman" panose="02020603050405020304" pitchFamily="18" charset="0"/>
              </a:rPr>
              <a:t>Signup</a:t>
            </a:r>
            <a:r>
              <a:rPr lang="en-IN" sz="1800" dirty="0">
                <a:latin typeface="Times New Roman" panose="02020603050405020304" pitchFamily="18" charset="0"/>
                <a:cs typeface="Times New Roman" panose="02020603050405020304" pitchFamily="18" charset="0"/>
              </a:rPr>
              <a:t>: Users can create a new account by providing their personal details , such as name ,email and password.</a:t>
            </a:r>
          </a:p>
          <a:p>
            <a:pPr algn="just"/>
            <a:r>
              <a:rPr lang="en-IN" sz="1800" b="1" dirty="0">
                <a:latin typeface="Times New Roman" panose="02020603050405020304" pitchFamily="18" charset="0"/>
                <a:cs typeface="Times New Roman" panose="02020603050405020304" pitchFamily="18" charset="0"/>
              </a:rPr>
              <a:t>Login</a:t>
            </a:r>
            <a:r>
              <a:rPr lang="en-IN" sz="1800" dirty="0">
                <a:latin typeface="Times New Roman" panose="02020603050405020304" pitchFamily="18" charset="0"/>
                <a:cs typeface="Times New Roman" panose="02020603050405020304" pitchFamily="18" charset="0"/>
              </a:rPr>
              <a:t> : Registered users can log in to the system using their credentials to access personalized features .</a:t>
            </a:r>
          </a:p>
          <a:p>
            <a:pPr algn="just"/>
            <a:r>
              <a:rPr lang="en-IN" sz="1800" b="1" dirty="0">
                <a:latin typeface="Times New Roman" panose="02020603050405020304" pitchFamily="18" charset="0"/>
                <a:cs typeface="Times New Roman" panose="02020603050405020304" pitchFamily="18" charset="0"/>
              </a:rPr>
              <a:t>Crop Recommendation Prediction</a:t>
            </a:r>
            <a:r>
              <a:rPr lang="en-IN" sz="1800" dirty="0">
                <a:latin typeface="Times New Roman" panose="02020603050405020304" pitchFamily="18" charset="0"/>
                <a:cs typeface="Times New Roman" panose="02020603050405020304" pitchFamily="18" charset="0"/>
              </a:rPr>
              <a:t>: Users can input various parameters such as nitrogen , phosphorus, potassium levels in the soil , temperature , humidity , pH value , and rainfall to get crop recommendations based on the Random forest Classifier algorithm.</a:t>
            </a:r>
          </a:p>
          <a:p>
            <a:pPr algn="just"/>
            <a:r>
              <a:rPr lang="en-IN" sz="1800" b="1" dirty="0">
                <a:latin typeface="Times New Roman" panose="02020603050405020304" pitchFamily="18" charset="0"/>
                <a:cs typeface="Times New Roman" panose="02020603050405020304" pitchFamily="18" charset="0"/>
              </a:rPr>
              <a:t>View prediction history </a:t>
            </a:r>
            <a:r>
              <a:rPr lang="en-IN" sz="1800" dirty="0">
                <a:latin typeface="Times New Roman" panose="02020603050405020304" pitchFamily="18" charset="0"/>
                <a:cs typeface="Times New Roman" panose="02020603050405020304" pitchFamily="18" charset="0"/>
              </a:rPr>
              <a:t>:Users can view their past crop recommendation prediction, including the recommended crops and relevant details.</a:t>
            </a:r>
          </a:p>
          <a:p>
            <a:pPr algn="just"/>
            <a:r>
              <a:rPr lang="en-IN" sz="1800" b="1" dirty="0">
                <a:latin typeface="Times New Roman" panose="02020603050405020304" pitchFamily="18" charset="0"/>
                <a:cs typeface="Times New Roman" panose="02020603050405020304" pitchFamily="18" charset="0"/>
              </a:rPr>
              <a:t>View Info</a:t>
            </a:r>
            <a:r>
              <a:rPr lang="en-IN" sz="1800" dirty="0">
                <a:latin typeface="Times New Roman" panose="02020603050405020304" pitchFamily="18" charset="0"/>
                <a:cs typeface="Times New Roman" panose="02020603050405020304" pitchFamily="18" charset="0"/>
              </a:rPr>
              <a:t>. : Users can view the information of the recommended crop .</a:t>
            </a:r>
          </a:p>
          <a:p>
            <a:pPr algn="just"/>
            <a:r>
              <a:rPr lang="en-IN" sz="1800" b="1" dirty="0">
                <a:latin typeface="Times New Roman" panose="02020603050405020304" pitchFamily="18" charset="0"/>
                <a:cs typeface="Times New Roman" panose="02020603050405020304" pitchFamily="18" charset="0"/>
              </a:rPr>
              <a:t>Edit profile </a:t>
            </a:r>
            <a:r>
              <a:rPr lang="en-IN" sz="1800" dirty="0">
                <a:latin typeface="Times New Roman" panose="02020603050405020304" pitchFamily="18" charset="0"/>
                <a:cs typeface="Times New Roman" panose="02020603050405020304" pitchFamily="18" charset="0"/>
              </a:rPr>
              <a:t>: Users have the option to update their profile information , such as name , contact details or any other relevant details.</a:t>
            </a:r>
          </a:p>
          <a:p>
            <a:pPr algn="just"/>
            <a:r>
              <a:rPr lang="en-IN" sz="1800" b="1" dirty="0">
                <a:latin typeface="Times New Roman" panose="02020603050405020304" pitchFamily="18" charset="0"/>
                <a:cs typeface="Times New Roman" panose="02020603050405020304" pitchFamily="18" charset="0"/>
              </a:rPr>
              <a:t>Change Password </a:t>
            </a:r>
            <a:r>
              <a:rPr lang="en-IN" sz="1800" dirty="0">
                <a:latin typeface="Times New Roman" panose="02020603050405020304" pitchFamily="18" charset="0"/>
                <a:cs typeface="Times New Roman" panose="02020603050405020304" pitchFamily="18" charset="0"/>
              </a:rPr>
              <a:t>: Users can change their account  password to enhance security.</a:t>
            </a:r>
          </a:p>
          <a:p>
            <a:pPr algn="just"/>
            <a:r>
              <a:rPr lang="en-IN" sz="1800" b="1" dirty="0">
                <a:latin typeface="Times New Roman" panose="02020603050405020304" pitchFamily="18" charset="0"/>
                <a:cs typeface="Times New Roman" panose="02020603050405020304" pitchFamily="18" charset="0"/>
              </a:rPr>
              <a:t>Logout</a:t>
            </a:r>
            <a:r>
              <a:rPr lang="en-IN" sz="1800" dirty="0">
                <a:latin typeface="Times New Roman" panose="02020603050405020304" pitchFamily="18" charset="0"/>
                <a:cs typeface="Times New Roman" panose="02020603050405020304" pitchFamily="18" charset="0"/>
              </a:rPr>
              <a:t>: Users can log out of the system to end their session securely</a:t>
            </a:r>
            <a:r>
              <a:rPr lang="en-IN"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20509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53854">
              <a:schemeClr val="accent3"/>
            </a:gs>
            <a:gs pos="12580">
              <a:srgbClr val="FCDDED"/>
            </a:gs>
            <a:gs pos="0">
              <a:schemeClr val="accent1">
                <a:lumMod val="5000"/>
                <a:lumOff val="95000"/>
              </a:schemeClr>
            </a:gs>
            <a:gs pos="74000">
              <a:schemeClr val="accent1">
                <a:lumMod val="45000"/>
                <a:lumOff val="55000"/>
              </a:schemeClr>
            </a:gs>
            <a:gs pos="100000">
              <a:schemeClr val="accent4"/>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581EA-86DD-76A6-3FA8-9D2FBAAC030E}"/>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ADMIN MODULES</a:t>
            </a:r>
          </a:p>
        </p:txBody>
      </p:sp>
      <p:sp>
        <p:nvSpPr>
          <p:cNvPr id="3" name="TextBox 2">
            <a:extLst>
              <a:ext uri="{FF2B5EF4-FFF2-40B4-BE49-F238E27FC236}">
                <a16:creationId xmlns:a16="http://schemas.microsoft.com/office/drawing/2014/main" id="{7BA71E93-EE92-442A-37DD-65B4B795A305}"/>
              </a:ext>
            </a:extLst>
          </p:cNvPr>
          <p:cNvSpPr txBox="1"/>
          <p:nvPr/>
        </p:nvSpPr>
        <p:spPr>
          <a:xfrm>
            <a:off x="1451579" y="2066925"/>
            <a:ext cx="9601196" cy="3970318"/>
          </a:xfrm>
          <a:prstGeom prst="rect">
            <a:avLst/>
          </a:prstGeom>
          <a:noFill/>
        </p:spPr>
        <p:txBody>
          <a:bodyPr wrap="square" rtlCol="0">
            <a:spAutoFit/>
          </a:bodyPr>
          <a:lstStyle/>
          <a:p>
            <a:pPr marL="285750" indent="-285750" algn="just">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Login</a:t>
            </a:r>
            <a:r>
              <a:rPr lang="en-IN" dirty="0">
                <a:latin typeface="Times New Roman" panose="02020603050405020304" pitchFamily="18" charset="0"/>
                <a:cs typeface="Times New Roman" panose="02020603050405020304" pitchFamily="18" charset="0"/>
              </a:rPr>
              <a:t>: The admin will have a login functionality to access the admin dashboard and perform administrative tasks.</a:t>
            </a:r>
          </a:p>
          <a:p>
            <a:pPr marL="28575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Dashboard:</a:t>
            </a:r>
            <a:r>
              <a:rPr lang="en-IN" dirty="0">
                <a:latin typeface="Times New Roman" panose="02020603050405020304" pitchFamily="18" charset="0"/>
                <a:cs typeface="Times New Roman" panose="02020603050405020304" pitchFamily="18" charset="0"/>
              </a:rPr>
              <a:t> The admin will have a dashboard that provides an overview of important information such as user counts , recommendation prediction results count , and other relevant statistics.</a:t>
            </a:r>
          </a:p>
          <a:p>
            <a:pPr marL="28575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View Prediction history</a:t>
            </a:r>
            <a:r>
              <a:rPr lang="en-IN" dirty="0">
                <a:latin typeface="Times New Roman" panose="02020603050405020304" pitchFamily="18" charset="0"/>
                <a:cs typeface="Times New Roman" panose="02020603050405020304" pitchFamily="18" charset="0"/>
              </a:rPr>
              <a:t>: The admin will be able to view the prediction history, which includes the crop recommendations made for </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Different users over time .</a:t>
            </a:r>
          </a:p>
          <a:p>
            <a:pPr marL="28575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View Registered Users</a:t>
            </a:r>
            <a:r>
              <a:rPr lang="en-IN" dirty="0">
                <a:latin typeface="Times New Roman" panose="02020603050405020304" pitchFamily="18" charset="0"/>
                <a:cs typeface="Times New Roman" panose="02020603050405020304" pitchFamily="18" charset="0"/>
              </a:rPr>
              <a:t>: The admin can view the list of registered users in the system , including their details such as name, contact details,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And other relevant details.</a:t>
            </a:r>
          </a:p>
          <a:p>
            <a:pPr marL="28575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Change Password</a:t>
            </a:r>
            <a:r>
              <a:rPr lang="en-IN" dirty="0">
                <a:latin typeface="Times New Roman" panose="02020603050405020304" pitchFamily="18" charset="0"/>
                <a:cs typeface="Times New Roman" panose="02020603050405020304" pitchFamily="18" charset="0"/>
              </a:rPr>
              <a:t>: The Admin will have the ability to change their password for security purposes.</a:t>
            </a:r>
          </a:p>
          <a:p>
            <a:pPr marL="28575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Logout</a:t>
            </a:r>
            <a:r>
              <a:rPr lang="en-IN" dirty="0">
                <a:latin typeface="Times New Roman" panose="02020603050405020304" pitchFamily="18" charset="0"/>
                <a:cs typeface="Times New Roman" panose="02020603050405020304" pitchFamily="18" charset="0"/>
              </a:rPr>
              <a:t>: The admin can log out of the admin panel to ensure secure access to the system</a:t>
            </a:r>
            <a:r>
              <a:rPr lang="en-IN" dirty="0"/>
              <a:t>.</a:t>
            </a:r>
          </a:p>
        </p:txBody>
      </p:sp>
    </p:spTree>
    <p:extLst>
      <p:ext uri="{BB962C8B-B14F-4D97-AF65-F5344CB8AC3E}">
        <p14:creationId xmlns:p14="http://schemas.microsoft.com/office/powerpoint/2010/main" val="904674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53854">
              <a:srgbClr val="00B050"/>
            </a:gs>
            <a:gs pos="12580">
              <a:srgbClr val="FCDDED"/>
            </a:gs>
            <a:gs pos="0">
              <a:schemeClr val="accent1">
                <a:lumMod val="5000"/>
                <a:lumOff val="95000"/>
              </a:schemeClr>
            </a:gs>
            <a:gs pos="74000">
              <a:schemeClr val="accent1">
                <a:lumMod val="45000"/>
                <a:lumOff val="55000"/>
              </a:schemeClr>
            </a:gs>
            <a:gs pos="99000">
              <a:schemeClr val="tx2"/>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DE659-812F-535E-F794-29A7F2E7B65D}"/>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SOFTWARE  AND TECHNOLOGIES USED</a:t>
            </a:r>
          </a:p>
        </p:txBody>
      </p:sp>
      <p:sp>
        <p:nvSpPr>
          <p:cNvPr id="3" name="Content Placeholder 2">
            <a:extLst>
              <a:ext uri="{FF2B5EF4-FFF2-40B4-BE49-F238E27FC236}">
                <a16:creationId xmlns:a16="http://schemas.microsoft.com/office/drawing/2014/main" id="{97C84F5B-02E8-CEBC-1100-98DAC8C1B56E}"/>
              </a:ext>
            </a:extLst>
          </p:cNvPr>
          <p:cNvSpPr>
            <a:spLocks noGrp="1"/>
          </p:cNvSpPr>
          <p:nvPr>
            <p:ph sz="half" idx="1"/>
          </p:nvPr>
        </p:nvSpPr>
        <p:spPr>
          <a:xfrm>
            <a:off x="1690399" y="2578037"/>
            <a:ext cx="4915369" cy="3448595"/>
          </a:xfrm>
        </p:spPr>
        <p:txBody>
          <a:bodyPr>
            <a:noAutofit/>
          </a:bodyPr>
          <a:lstStyle/>
          <a:p>
            <a:r>
              <a:rPr lang="en-IN" sz="2000" dirty="0">
                <a:latin typeface="Times New Roman" panose="02020603050405020304" pitchFamily="18" charset="0"/>
                <a:cs typeface="Times New Roman" panose="02020603050405020304" pitchFamily="18" charset="0"/>
              </a:rPr>
              <a:t>FRONTENED TECHNOLOGIES(HTML , CSS , BOOTSTRAP, JAVASCRIPT</a:t>
            </a:r>
          </a:p>
          <a:p>
            <a:r>
              <a:rPr lang="en-IN" sz="2000" dirty="0">
                <a:latin typeface="Times New Roman" panose="02020603050405020304" pitchFamily="18" charset="0"/>
                <a:cs typeface="Times New Roman" panose="02020603050405020304" pitchFamily="18" charset="0"/>
              </a:rPr>
              <a:t>PYTHON INTERPRETOR</a:t>
            </a:r>
          </a:p>
          <a:p>
            <a:r>
              <a:rPr lang="en-IN" sz="2000" dirty="0">
                <a:latin typeface="Times New Roman" panose="02020603050405020304" pitchFamily="18" charset="0"/>
                <a:cs typeface="Times New Roman" panose="02020603050405020304" pitchFamily="18" charset="0"/>
              </a:rPr>
              <a:t>PYCHARM IDE</a:t>
            </a:r>
          </a:p>
          <a:p>
            <a:r>
              <a:rPr lang="en-IN" sz="2000" dirty="0">
                <a:latin typeface="Times New Roman" panose="02020603050405020304" pitchFamily="18" charset="0"/>
                <a:cs typeface="Times New Roman" panose="02020603050405020304" pitchFamily="18" charset="0"/>
              </a:rPr>
              <a:t>DJANGO FRAMEWORK</a:t>
            </a:r>
          </a:p>
          <a:p>
            <a:r>
              <a:rPr lang="en-IN" sz="2000" dirty="0">
                <a:latin typeface="Times New Roman" panose="02020603050405020304" pitchFamily="18" charset="0"/>
                <a:cs typeface="Times New Roman" panose="02020603050405020304" pitchFamily="18" charset="0"/>
              </a:rPr>
              <a:t>MACHINE LEARNING</a:t>
            </a:r>
          </a:p>
          <a:p>
            <a:r>
              <a:rPr lang="en-IN" sz="2000" dirty="0">
                <a:latin typeface="Times New Roman" panose="02020603050405020304" pitchFamily="18" charset="0"/>
                <a:cs typeface="Times New Roman" panose="02020603050405020304" pitchFamily="18" charset="0"/>
              </a:rPr>
              <a:t>CHROME OR ANY OTHER BROWSER</a:t>
            </a:r>
          </a:p>
        </p:txBody>
      </p:sp>
    </p:spTree>
    <p:extLst>
      <p:ext uri="{BB962C8B-B14F-4D97-AF65-F5344CB8AC3E}">
        <p14:creationId xmlns:p14="http://schemas.microsoft.com/office/powerpoint/2010/main" val="1632529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2770D4-B4E9-32F4-60C9-8B2D71DB8C8C}"/>
              </a:ext>
            </a:extLst>
          </p:cNvPr>
          <p:cNvPicPr>
            <a:picLocks noChangeAspect="1"/>
          </p:cNvPicPr>
          <p:nvPr/>
        </p:nvPicPr>
        <p:blipFill>
          <a:blip r:embed="rId2"/>
          <a:stretch>
            <a:fillRect/>
          </a:stretch>
        </p:blipFill>
        <p:spPr>
          <a:xfrm>
            <a:off x="0" y="-69010"/>
            <a:ext cx="12191999" cy="6927010"/>
          </a:xfrm>
          <a:prstGeom prst="rect">
            <a:avLst/>
          </a:prstGeom>
        </p:spPr>
      </p:pic>
    </p:spTree>
    <p:extLst>
      <p:ext uri="{BB962C8B-B14F-4D97-AF65-F5344CB8AC3E}">
        <p14:creationId xmlns:p14="http://schemas.microsoft.com/office/powerpoint/2010/main" val="2115550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E9C364-A534-062B-F176-D6E046DB69B0}"/>
              </a:ext>
            </a:extLst>
          </p:cNvPr>
          <p:cNvPicPr>
            <a:picLocks noChangeAspect="1"/>
          </p:cNvPicPr>
          <p:nvPr/>
        </p:nvPicPr>
        <p:blipFill>
          <a:blip r:embed="rId2"/>
          <a:stretch>
            <a:fillRect/>
          </a:stretch>
        </p:blipFill>
        <p:spPr>
          <a:xfrm>
            <a:off x="0" y="-17252"/>
            <a:ext cx="12192000" cy="6858000"/>
          </a:xfrm>
          <a:prstGeom prst="rect">
            <a:avLst/>
          </a:prstGeom>
        </p:spPr>
      </p:pic>
    </p:spTree>
    <p:extLst>
      <p:ext uri="{BB962C8B-B14F-4D97-AF65-F5344CB8AC3E}">
        <p14:creationId xmlns:p14="http://schemas.microsoft.com/office/powerpoint/2010/main" val="1229409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8B4001-C5E6-11E1-8ADE-E499604AB92A}"/>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1412308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CB0F3D9-23B1-5067-3971-FF1F1A7B6DBB}"/>
              </a:ext>
            </a:extLst>
          </p:cNvPr>
          <p:cNvPicPr>
            <a:picLocks noChangeAspect="1"/>
          </p:cNvPicPr>
          <p:nvPr/>
        </p:nvPicPr>
        <p:blipFill>
          <a:blip r:embed="rId2"/>
          <a:stretch>
            <a:fillRect/>
          </a:stretch>
        </p:blipFill>
        <p:spPr>
          <a:xfrm>
            <a:off x="0" y="0"/>
            <a:ext cx="12209929" cy="6858000"/>
          </a:xfrm>
          <a:prstGeom prst="rect">
            <a:avLst/>
          </a:prstGeom>
        </p:spPr>
      </p:pic>
    </p:spTree>
    <p:extLst>
      <p:ext uri="{BB962C8B-B14F-4D97-AF65-F5344CB8AC3E}">
        <p14:creationId xmlns:p14="http://schemas.microsoft.com/office/powerpoint/2010/main" val="2830410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DCCC5B7-1710-2E47-4450-C76E8B101CC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6919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430349C-2034-32FC-0EAA-6ECDDD1A1AA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020101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90900">
              <a:schemeClr val="accent4"/>
            </a:gs>
            <a:gs pos="53854">
              <a:srgbClr val="0070C0"/>
            </a:gs>
            <a:gs pos="12580">
              <a:srgbClr val="FCDDED"/>
            </a:gs>
            <a:gs pos="0">
              <a:schemeClr val="accent1">
                <a:lumMod val="5000"/>
                <a:lumOff val="95000"/>
              </a:schemeClr>
            </a:gs>
            <a:gs pos="74000">
              <a:schemeClr val="accent1">
                <a:lumMod val="45000"/>
                <a:lumOff val="55000"/>
              </a:schemeClr>
            </a:gs>
            <a:gs pos="99000">
              <a:schemeClr val="accent6">
                <a:lumMod val="40000"/>
                <a:lumOff val="6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22BB4-2C6B-9443-A606-3423F9D3666C}"/>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7D94C4F-53FA-2507-DF9F-4DD291C28E72}"/>
              </a:ext>
            </a:extLst>
          </p:cNvPr>
          <p:cNvSpPr>
            <a:spLocks noGrp="1"/>
          </p:cNvSpPr>
          <p:nvPr>
            <p:ph sz="half" idx="1"/>
          </p:nvPr>
        </p:nvSpPr>
        <p:spPr>
          <a:xfrm>
            <a:off x="1447331" y="2010878"/>
            <a:ext cx="9680744" cy="4054256"/>
          </a:xfrm>
        </p:spPr>
        <p:txBody>
          <a:bodyPr>
            <a:normAutofit lnSpcReduction="10000"/>
          </a:bodyPr>
          <a:lstStyle/>
          <a:p>
            <a:pPr algn="just"/>
            <a:endParaRPr lang="en-IN" sz="2200" dirty="0">
              <a:latin typeface="Times New Roman" panose="02020603050405020304" pitchFamily="18" charset="0"/>
              <a:cs typeface="Times New Roman" panose="02020603050405020304" pitchFamily="18" charset="0"/>
            </a:endParaRPr>
          </a:p>
          <a:p>
            <a:pPr marL="0" indent="0" algn="just">
              <a:buNone/>
            </a:pPr>
            <a:r>
              <a:rPr lang="en-IN" sz="2200" dirty="0">
                <a:latin typeface="Times New Roman" panose="02020603050405020304" pitchFamily="18" charset="0"/>
                <a:cs typeface="Times New Roman" panose="02020603050405020304" pitchFamily="18" charset="0"/>
              </a:rPr>
              <a:t>In conclusion , the Crop Recommendation System using Random Forest Classifier offers an efficient and effective solution for assisting farmers  in making informed decisions about crop selection. By leveraging machine learning algorithms and historical data , the system provides personalized crop recommendations based on various soil and environmental factors . It simplifies the decision making process , enhances productivity and optimizes resource utilization. The system’s user friendly interface and easily accessibility make it a valuable tool for farmers , enabling them to improve their agricultural practices and achieve better crop yields . As technology advances and more data becomes available , there is a great potential for further enhancing the accuracy and performance of crop recommendation systems , ultimately contributing to sustainable farming practices and agricultural growth</a:t>
            </a:r>
            <a:r>
              <a:rPr lang="en-IN" dirty="0"/>
              <a:t>.</a:t>
            </a:r>
          </a:p>
        </p:txBody>
      </p:sp>
    </p:spTree>
    <p:extLst>
      <p:ext uri="{BB962C8B-B14F-4D97-AF65-F5344CB8AC3E}">
        <p14:creationId xmlns:p14="http://schemas.microsoft.com/office/powerpoint/2010/main" val="3512301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53854">
              <a:srgbClr val="FF0000"/>
            </a:gs>
            <a:gs pos="12580">
              <a:srgbClr val="FCDDED"/>
            </a:gs>
            <a:gs pos="0">
              <a:schemeClr val="accent1">
                <a:lumMod val="5000"/>
                <a:lumOff val="95000"/>
              </a:schemeClr>
            </a:gs>
            <a:gs pos="74000">
              <a:schemeClr val="accent1">
                <a:lumMod val="45000"/>
                <a:lumOff val="55000"/>
              </a:schemeClr>
            </a:gs>
            <a:gs pos="99000">
              <a:schemeClr val="accent6">
                <a:lumMod val="40000"/>
                <a:lumOff val="6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EBBBF-D4FE-AC09-7EDC-1E45CF3F9EFA}"/>
              </a:ext>
            </a:extLst>
          </p:cNvPr>
          <p:cNvSpPr>
            <a:spLocks noGrp="1"/>
          </p:cNvSpPr>
          <p:nvPr>
            <p:ph type="title"/>
          </p:nvPr>
        </p:nvSpPr>
        <p:spPr/>
        <p:txBody>
          <a:bodyPr>
            <a:normAutofit/>
          </a:bodyPr>
          <a:lstStyle/>
          <a:p>
            <a:r>
              <a:rPr lang="en-IN" sz="2800" dirty="0">
                <a:latin typeface="Times New Roman" panose="02020603050405020304" pitchFamily="18" charset="0"/>
                <a:cs typeface="Times New Roman" panose="02020603050405020304" pitchFamily="18" charset="0"/>
              </a:rPr>
              <a:t>FUTURE SCOPE</a:t>
            </a:r>
          </a:p>
        </p:txBody>
      </p:sp>
      <p:sp>
        <p:nvSpPr>
          <p:cNvPr id="3" name="TextBox 2">
            <a:extLst>
              <a:ext uri="{FF2B5EF4-FFF2-40B4-BE49-F238E27FC236}">
                <a16:creationId xmlns:a16="http://schemas.microsoft.com/office/drawing/2014/main" id="{AC957391-B5DE-7F4E-AA87-C61E1C760E69}"/>
              </a:ext>
            </a:extLst>
          </p:cNvPr>
          <p:cNvSpPr txBox="1"/>
          <p:nvPr/>
        </p:nvSpPr>
        <p:spPr>
          <a:xfrm>
            <a:off x="1451579" y="2087593"/>
            <a:ext cx="9775864" cy="3170099"/>
          </a:xfrm>
          <a:prstGeom prst="rect">
            <a:avLst/>
          </a:prstGeom>
          <a:noFill/>
        </p:spPr>
        <p:txBody>
          <a:bodyPr wrap="square" rtlCol="0">
            <a:spAutoFit/>
          </a:bodyPr>
          <a:lstStyle/>
          <a:p>
            <a:pPr algn="just"/>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Future scope of Crop recommendation system using Random forest Classifier includes improving accuracy through advanced algorithm and  technologies , personalisation recommendation based on individual preferences and farm Conditions , integrating climate changes adaptation strategies , developing mobile applications for enhanced accessibility , fostering knowledge sharing and collaboration , expanding to different to different regions and crops , and incorporating decisions support tools. These advancement aims to optimise agricultural practices and increase productivity and addresses emerging challenges in the agricultural sector.</a:t>
            </a:r>
          </a:p>
        </p:txBody>
      </p:sp>
    </p:spTree>
    <p:extLst>
      <p:ext uri="{BB962C8B-B14F-4D97-AF65-F5344CB8AC3E}">
        <p14:creationId xmlns:p14="http://schemas.microsoft.com/office/powerpoint/2010/main" val="3105235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88C19B-7374-A818-5AA0-3332E0B879DD}"/>
              </a:ext>
            </a:extLst>
          </p:cNvPr>
          <p:cNvPicPr>
            <a:picLocks noChangeAspect="1"/>
          </p:cNvPicPr>
          <p:nvPr/>
        </p:nvPicPr>
        <p:blipFill>
          <a:blip r:embed="rId2"/>
          <a:stretch>
            <a:fillRect/>
          </a:stretch>
        </p:blipFill>
        <p:spPr>
          <a:xfrm>
            <a:off x="0" y="0"/>
            <a:ext cx="11300604" cy="6858000"/>
          </a:xfrm>
          <a:prstGeom prst="rect">
            <a:avLst/>
          </a:prstGeom>
        </p:spPr>
      </p:pic>
    </p:spTree>
    <p:extLst>
      <p:ext uri="{BB962C8B-B14F-4D97-AF65-F5344CB8AC3E}">
        <p14:creationId xmlns:p14="http://schemas.microsoft.com/office/powerpoint/2010/main" val="125182236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2.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Organic</Template>
  <TotalTime>226</TotalTime>
  <Words>1015</Words>
  <Application>Microsoft Office PowerPoint</Application>
  <PresentationFormat>Widescreen</PresentationFormat>
  <Paragraphs>52</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Garamond</vt:lpstr>
      <vt:lpstr>Times New Roman</vt:lpstr>
      <vt:lpstr>Organic</vt:lpstr>
      <vt:lpstr>CROP RECOMMENDATION SYSTEM</vt:lpstr>
      <vt:lpstr>INTRODUCTION</vt:lpstr>
      <vt:lpstr>OBJECTIVE</vt:lpstr>
      <vt:lpstr>NEED OF THE SYSTEM</vt:lpstr>
      <vt:lpstr>PROPOSED SYSTEM </vt:lpstr>
      <vt:lpstr>  USER MODULES</vt:lpstr>
      <vt:lpstr>ADMIN MODULES</vt:lpstr>
      <vt:lpstr>SOFTWARE  AND TECHNOLOGIES USED</vt:lpstr>
      <vt:lpstr>PowerPoint Presentation</vt:lpstr>
      <vt:lpstr>PowerPoint Presentation</vt:lpstr>
      <vt:lpstr>PowerPoint Presentation</vt:lpstr>
      <vt:lpstr>PowerPoint Presentation</vt:lpstr>
      <vt:lpstr>PowerPoint Presentation</vt:lpstr>
      <vt:lpstr>PowerPoint Presentation</vt:lpstr>
      <vt:lpstr>CONCLUSION</vt:lpstr>
      <vt:lpstr>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MANAGEMENT SYSTEM</dc:title>
  <dc:creator>Harshit Pandey</dc:creator>
  <cp:lastModifiedBy>Harshit Pandey</cp:lastModifiedBy>
  <cp:revision>3</cp:revision>
  <dcterms:created xsi:type="dcterms:W3CDTF">2024-04-30T18:48:19Z</dcterms:created>
  <dcterms:modified xsi:type="dcterms:W3CDTF">2025-04-25T19:58:02Z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